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66"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swanth T K" userId="d1df20016f4c649a" providerId="LiveId" clId="{DC7FA699-D752-47DA-9FA7-8C770CD6B4E8}"/>
    <pc:docChg chg="undo custSel addSld modSld">
      <pc:chgData name="Aswanth T K" userId="d1df20016f4c649a" providerId="LiveId" clId="{DC7FA699-D752-47DA-9FA7-8C770CD6B4E8}" dt="2026-06-18T17:24:54.952" v="204" actId="1076"/>
      <pc:docMkLst>
        <pc:docMk/>
      </pc:docMkLst>
      <pc:sldChg chg="addSp modSp mod">
        <pc:chgData name="Aswanth T K" userId="d1df20016f4c649a" providerId="LiveId" clId="{DC7FA699-D752-47DA-9FA7-8C770CD6B4E8}" dt="2026-06-18T17:20:31.909" v="139" actId="20577"/>
        <pc:sldMkLst>
          <pc:docMk/>
          <pc:sldMk cId="102457953" sldId="256"/>
        </pc:sldMkLst>
        <pc:spChg chg="add mod">
          <ac:chgData name="Aswanth T K" userId="d1df20016f4c649a" providerId="LiveId" clId="{DC7FA699-D752-47DA-9FA7-8C770CD6B4E8}" dt="2026-06-18T17:20:31.909" v="139" actId="20577"/>
          <ac:spMkLst>
            <pc:docMk/>
            <pc:sldMk cId="102457953" sldId="256"/>
            <ac:spMk id="2" creationId="{D3978053-E56D-5188-EEF1-668944CAEA6A}"/>
          </ac:spMkLst>
        </pc:spChg>
        <pc:spChg chg="mod">
          <ac:chgData name="Aswanth T K" userId="d1df20016f4c649a" providerId="LiveId" clId="{DC7FA699-D752-47DA-9FA7-8C770CD6B4E8}" dt="2026-06-18T17:13:58.243" v="114" actId="1076"/>
          <ac:spMkLst>
            <pc:docMk/>
            <pc:sldMk cId="102457953" sldId="256"/>
            <ac:spMk id="6" creationId="{DCBC74F0-CD28-B406-4608-C45E84541B03}"/>
          </ac:spMkLst>
        </pc:spChg>
      </pc:sldChg>
      <pc:sldChg chg="modSp mod">
        <pc:chgData name="Aswanth T K" userId="d1df20016f4c649a" providerId="LiveId" clId="{DC7FA699-D752-47DA-9FA7-8C770CD6B4E8}" dt="2026-06-06T17:56:32.729" v="95" actId="27636"/>
        <pc:sldMkLst>
          <pc:docMk/>
          <pc:sldMk cId="3958672421" sldId="257"/>
        </pc:sldMkLst>
        <pc:spChg chg="mod">
          <ac:chgData name="Aswanth T K" userId="d1df20016f4c649a" providerId="LiveId" clId="{DC7FA699-D752-47DA-9FA7-8C770CD6B4E8}" dt="2026-06-06T17:56:10.198" v="90" actId="2711"/>
          <ac:spMkLst>
            <pc:docMk/>
            <pc:sldMk cId="3958672421" sldId="257"/>
            <ac:spMk id="4" creationId="{AFFD78C2-1AEB-76E6-D06E-674507337ED3}"/>
          </ac:spMkLst>
        </pc:spChg>
        <pc:spChg chg="mod">
          <ac:chgData name="Aswanth T K" userId="d1df20016f4c649a" providerId="LiveId" clId="{DC7FA699-D752-47DA-9FA7-8C770CD6B4E8}" dt="2026-06-06T17:56:32.729" v="95" actId="27636"/>
          <ac:spMkLst>
            <pc:docMk/>
            <pc:sldMk cId="3958672421" sldId="257"/>
            <ac:spMk id="5" creationId="{5789C93C-504E-272F-D69B-9483B772C455}"/>
          </ac:spMkLst>
        </pc:spChg>
      </pc:sldChg>
      <pc:sldChg chg="modSp mod">
        <pc:chgData name="Aswanth T K" userId="d1df20016f4c649a" providerId="LiveId" clId="{DC7FA699-D752-47DA-9FA7-8C770CD6B4E8}" dt="2026-06-06T17:58:27.262" v="97" actId="255"/>
        <pc:sldMkLst>
          <pc:docMk/>
          <pc:sldMk cId="2120202102" sldId="258"/>
        </pc:sldMkLst>
        <pc:spChg chg="mod">
          <ac:chgData name="Aswanth T K" userId="d1df20016f4c649a" providerId="LiveId" clId="{DC7FA699-D752-47DA-9FA7-8C770CD6B4E8}" dt="2026-06-06T17:58:27.262" v="97" actId="255"/>
          <ac:spMkLst>
            <pc:docMk/>
            <pc:sldMk cId="2120202102" sldId="258"/>
            <ac:spMk id="2" creationId="{3ED61B4E-A33B-319B-EDFC-5432DAF60D58}"/>
          </ac:spMkLst>
        </pc:spChg>
        <pc:spChg chg="mod">
          <ac:chgData name="Aswanth T K" userId="d1df20016f4c649a" providerId="LiveId" clId="{DC7FA699-D752-47DA-9FA7-8C770CD6B4E8}" dt="2026-06-06T17:55:39.757" v="84" actId="12"/>
          <ac:spMkLst>
            <pc:docMk/>
            <pc:sldMk cId="2120202102" sldId="258"/>
            <ac:spMk id="3" creationId="{FD6F9947-B13A-733C-5A5C-BCD07F45D324}"/>
          </ac:spMkLst>
        </pc:spChg>
      </pc:sldChg>
      <pc:sldChg chg="modSp mod">
        <pc:chgData name="Aswanth T K" userId="d1df20016f4c649a" providerId="LiveId" clId="{DC7FA699-D752-47DA-9FA7-8C770CD6B4E8}" dt="2026-06-06T17:55:28.148" v="82" actId="12"/>
        <pc:sldMkLst>
          <pc:docMk/>
          <pc:sldMk cId="2530879550" sldId="259"/>
        </pc:sldMkLst>
        <pc:spChg chg="mod">
          <ac:chgData name="Aswanth T K" userId="d1df20016f4c649a" providerId="LiveId" clId="{DC7FA699-D752-47DA-9FA7-8C770CD6B4E8}" dt="2026-06-06T17:55:28.148" v="82" actId="12"/>
          <ac:spMkLst>
            <pc:docMk/>
            <pc:sldMk cId="2530879550" sldId="259"/>
            <ac:spMk id="5" creationId="{B704C697-75D4-EDE8-2E6C-DA3DA189A13A}"/>
          </ac:spMkLst>
        </pc:spChg>
      </pc:sldChg>
      <pc:sldChg chg="modSp mod">
        <pc:chgData name="Aswanth T K" userId="d1df20016f4c649a" providerId="LiveId" clId="{DC7FA699-D752-47DA-9FA7-8C770CD6B4E8}" dt="2026-06-06T17:55:14.264" v="80" actId="12"/>
        <pc:sldMkLst>
          <pc:docMk/>
          <pc:sldMk cId="3489187687" sldId="260"/>
        </pc:sldMkLst>
        <pc:spChg chg="mod">
          <ac:chgData name="Aswanth T K" userId="d1df20016f4c649a" providerId="LiveId" clId="{DC7FA699-D752-47DA-9FA7-8C770CD6B4E8}" dt="2026-06-06T17:55:14.264" v="80" actId="12"/>
          <ac:spMkLst>
            <pc:docMk/>
            <pc:sldMk cId="3489187687" sldId="260"/>
            <ac:spMk id="3" creationId="{AE2831AE-89F5-BFCA-C0BE-16D3FA9E6CD2}"/>
          </ac:spMkLst>
        </pc:spChg>
      </pc:sldChg>
      <pc:sldChg chg="modSp mod">
        <pc:chgData name="Aswanth T K" userId="d1df20016f4c649a" providerId="LiveId" clId="{DC7FA699-D752-47DA-9FA7-8C770CD6B4E8}" dt="2026-06-16T16:57:08.063" v="111"/>
        <pc:sldMkLst>
          <pc:docMk/>
          <pc:sldMk cId="1322597403" sldId="261"/>
        </pc:sldMkLst>
        <pc:spChg chg="mod">
          <ac:chgData name="Aswanth T K" userId="d1df20016f4c649a" providerId="LiveId" clId="{DC7FA699-D752-47DA-9FA7-8C770CD6B4E8}" dt="2026-06-16T16:57:08.063" v="111"/>
          <ac:spMkLst>
            <pc:docMk/>
            <pc:sldMk cId="1322597403" sldId="261"/>
            <ac:spMk id="4" creationId="{C73AAB85-B8E9-CCFC-B24B-C28BA556E897}"/>
          </ac:spMkLst>
        </pc:spChg>
        <pc:spChg chg="mod">
          <ac:chgData name="Aswanth T K" userId="d1df20016f4c649a" providerId="LiveId" clId="{DC7FA699-D752-47DA-9FA7-8C770CD6B4E8}" dt="2026-06-06T17:49:01.296" v="6" actId="2711"/>
          <ac:spMkLst>
            <pc:docMk/>
            <pc:sldMk cId="1322597403" sldId="261"/>
            <ac:spMk id="6" creationId="{EA1A10EF-258A-FE80-F0B5-4D5E163EE5FE}"/>
          </ac:spMkLst>
        </pc:spChg>
      </pc:sldChg>
      <pc:sldChg chg="addSp modSp mod chgLayout">
        <pc:chgData name="Aswanth T K" userId="d1df20016f4c649a" providerId="LiveId" clId="{DC7FA699-D752-47DA-9FA7-8C770CD6B4E8}" dt="2026-06-06T17:52:01.610" v="52" actId="1076"/>
        <pc:sldMkLst>
          <pc:docMk/>
          <pc:sldMk cId="1175712913" sldId="262"/>
        </pc:sldMkLst>
        <pc:spChg chg="add mod ord">
          <ac:chgData name="Aswanth T K" userId="d1df20016f4c649a" providerId="LiveId" clId="{DC7FA699-D752-47DA-9FA7-8C770CD6B4E8}" dt="2026-06-06T17:52:01.610" v="52" actId="1076"/>
          <ac:spMkLst>
            <pc:docMk/>
            <pc:sldMk cId="1175712913" sldId="262"/>
            <ac:spMk id="2" creationId="{CA9D8A4F-25C8-2C96-182D-14419181175B}"/>
          </ac:spMkLst>
        </pc:spChg>
        <pc:spChg chg="mod ord">
          <ac:chgData name="Aswanth T K" userId="d1df20016f4c649a" providerId="LiveId" clId="{DC7FA699-D752-47DA-9FA7-8C770CD6B4E8}" dt="2026-06-06T17:51:55.716" v="51" actId="20577"/>
          <ac:spMkLst>
            <pc:docMk/>
            <pc:sldMk cId="1175712913" sldId="262"/>
            <ac:spMk id="5" creationId="{0709EE3C-ADDB-2C65-5B24-058151DA210C}"/>
          </ac:spMkLst>
        </pc:spChg>
      </pc:sldChg>
      <pc:sldChg chg="modSp new mod">
        <pc:chgData name="Aswanth T K" userId="d1df20016f4c649a" providerId="LiveId" clId="{DC7FA699-D752-47DA-9FA7-8C770CD6B4E8}" dt="2026-06-18T17:21:01.607" v="142" actId="27636"/>
        <pc:sldMkLst>
          <pc:docMk/>
          <pc:sldMk cId="3322825483" sldId="263"/>
        </pc:sldMkLst>
        <pc:spChg chg="mod">
          <ac:chgData name="Aswanth T K" userId="d1df20016f4c649a" providerId="LiveId" clId="{DC7FA699-D752-47DA-9FA7-8C770CD6B4E8}" dt="2026-06-16T16:57:08.063" v="111"/>
          <ac:spMkLst>
            <pc:docMk/>
            <pc:sldMk cId="3322825483" sldId="263"/>
            <ac:spMk id="2" creationId="{988FB769-B7D7-0160-DDA9-508E07890572}"/>
          </ac:spMkLst>
        </pc:spChg>
        <pc:spChg chg="mod">
          <ac:chgData name="Aswanth T K" userId="d1df20016f4c649a" providerId="LiveId" clId="{DC7FA699-D752-47DA-9FA7-8C770CD6B4E8}" dt="2026-06-18T17:21:01.607" v="142" actId="27636"/>
          <ac:spMkLst>
            <pc:docMk/>
            <pc:sldMk cId="3322825483" sldId="263"/>
            <ac:spMk id="3" creationId="{1C34F894-43E4-ABAD-212C-63916565B923}"/>
          </ac:spMkLst>
        </pc:spChg>
      </pc:sldChg>
      <pc:sldChg chg="modSp new mod">
        <pc:chgData name="Aswanth T K" userId="d1df20016f4c649a" providerId="LiveId" clId="{DC7FA699-D752-47DA-9FA7-8C770CD6B4E8}" dt="2026-06-18T17:24:54.952" v="204" actId="1076"/>
        <pc:sldMkLst>
          <pc:docMk/>
          <pc:sldMk cId="3437876455" sldId="264"/>
        </pc:sldMkLst>
        <pc:spChg chg="mod">
          <ac:chgData name="Aswanth T K" userId="d1df20016f4c649a" providerId="LiveId" clId="{DC7FA699-D752-47DA-9FA7-8C770CD6B4E8}" dt="2026-06-18T17:24:54.952" v="204" actId="1076"/>
          <ac:spMkLst>
            <pc:docMk/>
            <pc:sldMk cId="3437876455" sldId="264"/>
            <ac:spMk id="2" creationId="{1B594168-8323-084E-1A9B-70D94272A70A}"/>
          </ac:spMkLst>
        </pc:spChg>
        <pc:spChg chg="mod">
          <ac:chgData name="Aswanth T K" userId="d1df20016f4c649a" providerId="LiveId" clId="{DC7FA699-D752-47DA-9FA7-8C770CD6B4E8}" dt="2026-06-18T17:24:44.115" v="203" actId="20577"/>
          <ac:spMkLst>
            <pc:docMk/>
            <pc:sldMk cId="3437876455" sldId="264"/>
            <ac:spMk id="3" creationId="{94F2A6C8-6779-C7CB-B0AB-B0B90E29710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C9844A5-7B79-47AB-9A43-07879AD1A7C9}" type="datetimeFigureOut">
              <a:rPr lang="en-IN" smtClean="0"/>
              <a:t>18-06-2026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496EC9E-3DC9-4761-A37E-9B189E298F3D}" type="slidenum">
              <a:rPr lang="en-IN" smtClean="0"/>
              <a:t>‹#›</a:t>
            </a:fld>
            <a:endParaRPr lang="en-IN"/>
          </a:p>
        </p:txBody>
      </p:sp>
    </p:spTree>
    <p:extLst>
      <p:ext uri="{BB962C8B-B14F-4D97-AF65-F5344CB8AC3E}">
        <p14:creationId xmlns:p14="http://schemas.microsoft.com/office/powerpoint/2010/main" val="5600957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496EC9E-3DC9-4761-A37E-9B189E298F3D}" type="slidenum">
              <a:rPr lang="en-IN" smtClean="0"/>
              <a:t>1</a:t>
            </a:fld>
            <a:endParaRPr lang="en-IN"/>
          </a:p>
        </p:txBody>
      </p:sp>
    </p:spTree>
    <p:extLst>
      <p:ext uri="{BB962C8B-B14F-4D97-AF65-F5344CB8AC3E}">
        <p14:creationId xmlns:p14="http://schemas.microsoft.com/office/powerpoint/2010/main" val="142184365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F596690F-4E81-4FFC-8639-CCFFE930BB71}" type="datetimeFigureOut">
              <a:rPr lang="en-IN" smtClean="0"/>
              <a:t>18-06-2026</a:t>
            </a:fld>
            <a:endParaRPr lang="en-IN"/>
          </a:p>
        </p:txBody>
      </p:sp>
      <p:sp>
        <p:nvSpPr>
          <p:cNvPr id="5" name="Footer Placeholder 4"/>
          <p:cNvSpPr>
            <a:spLocks noGrp="1"/>
          </p:cNvSpPr>
          <p:nvPr>
            <p:ph type="ftr" sz="quarter" idx="11"/>
          </p:nvPr>
        </p:nvSpPr>
        <p:spPr>
          <a:xfrm>
            <a:off x="1876424" y="5410201"/>
            <a:ext cx="5124886" cy="365125"/>
          </a:xfrm>
        </p:spPr>
        <p:txBody>
          <a:bodyPr/>
          <a:lstStyle/>
          <a:p>
            <a:endParaRPr lang="en-IN"/>
          </a:p>
        </p:txBody>
      </p:sp>
      <p:sp>
        <p:nvSpPr>
          <p:cNvPr id="6" name="Slide Number Placeholder 5"/>
          <p:cNvSpPr>
            <a:spLocks noGrp="1"/>
          </p:cNvSpPr>
          <p:nvPr>
            <p:ph type="sldNum" sz="quarter" idx="12"/>
          </p:nvPr>
        </p:nvSpPr>
        <p:spPr>
          <a:xfrm>
            <a:off x="9896911" y="5410199"/>
            <a:ext cx="771089" cy="365125"/>
          </a:xfrm>
        </p:spPr>
        <p:txBody>
          <a:bodyPr/>
          <a:lstStyle/>
          <a:p>
            <a:fld id="{F9B4C661-BFD6-4BDB-A2A0-62E104322E46}" type="slidenum">
              <a:rPr lang="en-IN" smtClean="0"/>
              <a:t>‹#›</a:t>
            </a:fld>
            <a:endParaRPr lang="en-IN"/>
          </a:p>
        </p:txBody>
      </p:sp>
    </p:spTree>
    <p:extLst>
      <p:ext uri="{BB962C8B-B14F-4D97-AF65-F5344CB8AC3E}">
        <p14:creationId xmlns:p14="http://schemas.microsoft.com/office/powerpoint/2010/main" val="38804410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596690F-4E81-4FFC-8639-CCFFE930BB71}" type="datetimeFigureOut">
              <a:rPr lang="en-IN" smtClean="0"/>
              <a:t>18-06-2026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9B4C661-BFD6-4BDB-A2A0-62E104322E46}" type="slidenum">
              <a:rPr lang="en-IN" smtClean="0"/>
              <a:t>‹#›</a:t>
            </a:fld>
            <a:endParaRPr lang="en-IN"/>
          </a:p>
        </p:txBody>
      </p:sp>
    </p:spTree>
    <p:extLst>
      <p:ext uri="{BB962C8B-B14F-4D97-AF65-F5344CB8AC3E}">
        <p14:creationId xmlns:p14="http://schemas.microsoft.com/office/powerpoint/2010/main" val="28910422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596690F-4E81-4FFC-8639-CCFFE930BB71}" type="datetimeFigureOut">
              <a:rPr lang="en-IN" smtClean="0"/>
              <a:t>18-06-2026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9B4C661-BFD6-4BDB-A2A0-62E104322E46}" type="slidenum">
              <a:rPr lang="en-IN" smtClean="0"/>
              <a:t>‹#›</a:t>
            </a:fld>
            <a:endParaRPr lang="en-IN"/>
          </a:p>
        </p:txBody>
      </p:sp>
    </p:spTree>
    <p:extLst>
      <p:ext uri="{BB962C8B-B14F-4D97-AF65-F5344CB8AC3E}">
        <p14:creationId xmlns:p14="http://schemas.microsoft.com/office/powerpoint/2010/main" val="10810272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596690F-4E81-4FFC-8639-CCFFE930BB71}" type="datetimeFigureOut">
              <a:rPr lang="en-IN" smtClean="0"/>
              <a:t>18-06-2026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9B4C661-BFD6-4BDB-A2A0-62E104322E46}" type="slidenum">
              <a:rPr lang="en-IN" smtClean="0"/>
              <a:t>‹#›</a:t>
            </a:fld>
            <a:endParaRPr lang="en-IN"/>
          </a:p>
        </p:txBody>
      </p:sp>
    </p:spTree>
    <p:extLst>
      <p:ext uri="{BB962C8B-B14F-4D97-AF65-F5344CB8AC3E}">
        <p14:creationId xmlns:p14="http://schemas.microsoft.com/office/powerpoint/2010/main" val="24130152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596690F-4E81-4FFC-8639-CCFFE930BB71}" type="datetimeFigureOut">
              <a:rPr lang="en-IN" smtClean="0"/>
              <a:t>18-06-2026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9B4C661-BFD6-4BDB-A2A0-62E104322E46}" type="slidenum">
              <a:rPr lang="en-IN" smtClean="0"/>
              <a:t>‹#›</a:t>
            </a:fld>
            <a:endParaRPr lang="en-IN"/>
          </a:p>
        </p:txBody>
      </p:sp>
    </p:spTree>
    <p:extLst>
      <p:ext uri="{BB962C8B-B14F-4D97-AF65-F5344CB8AC3E}">
        <p14:creationId xmlns:p14="http://schemas.microsoft.com/office/powerpoint/2010/main" val="38960186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596690F-4E81-4FFC-8639-CCFFE930BB71}" type="datetimeFigureOut">
              <a:rPr lang="en-IN" smtClean="0"/>
              <a:t>18-06-2026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9B4C661-BFD6-4BDB-A2A0-62E104322E46}" type="slidenum">
              <a:rPr lang="en-IN" smtClean="0"/>
              <a:t>‹#›</a:t>
            </a:fld>
            <a:endParaRPr lang="en-IN"/>
          </a:p>
        </p:txBody>
      </p:sp>
    </p:spTree>
    <p:extLst>
      <p:ext uri="{BB962C8B-B14F-4D97-AF65-F5344CB8AC3E}">
        <p14:creationId xmlns:p14="http://schemas.microsoft.com/office/powerpoint/2010/main" val="35579603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596690F-4E81-4FFC-8639-CCFFE930BB71}" type="datetimeFigureOut">
              <a:rPr lang="en-IN" smtClean="0"/>
              <a:t>18-06-2026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9B4C661-BFD6-4BDB-A2A0-62E104322E46}" type="slidenum">
              <a:rPr lang="en-IN" smtClean="0"/>
              <a:t>‹#›</a:t>
            </a:fld>
            <a:endParaRPr lang="en-IN"/>
          </a:p>
        </p:txBody>
      </p:sp>
    </p:spTree>
    <p:extLst>
      <p:ext uri="{BB962C8B-B14F-4D97-AF65-F5344CB8AC3E}">
        <p14:creationId xmlns:p14="http://schemas.microsoft.com/office/powerpoint/2010/main" val="13493120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596690F-4E81-4FFC-8639-CCFFE930BB71}" type="datetimeFigureOut">
              <a:rPr lang="en-IN" smtClean="0"/>
              <a:t>18-06-2026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9B4C661-BFD6-4BDB-A2A0-62E104322E46}" type="slidenum">
              <a:rPr lang="en-IN" smtClean="0"/>
              <a:t>‹#›</a:t>
            </a:fld>
            <a:endParaRPr lang="en-IN"/>
          </a:p>
        </p:txBody>
      </p:sp>
    </p:spTree>
    <p:extLst>
      <p:ext uri="{BB962C8B-B14F-4D97-AF65-F5344CB8AC3E}">
        <p14:creationId xmlns:p14="http://schemas.microsoft.com/office/powerpoint/2010/main" val="29086975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596690F-4E81-4FFC-8639-CCFFE930BB71}" type="datetimeFigureOut">
              <a:rPr lang="en-IN" smtClean="0"/>
              <a:t>18-06-2026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9B4C661-BFD6-4BDB-A2A0-62E104322E46}" type="slidenum">
              <a:rPr lang="en-IN" smtClean="0"/>
              <a:t>‹#›</a:t>
            </a:fld>
            <a:endParaRPr lang="en-IN"/>
          </a:p>
        </p:txBody>
      </p:sp>
    </p:spTree>
    <p:extLst>
      <p:ext uri="{BB962C8B-B14F-4D97-AF65-F5344CB8AC3E}">
        <p14:creationId xmlns:p14="http://schemas.microsoft.com/office/powerpoint/2010/main" val="41417245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596690F-4E81-4FFC-8639-CCFFE930BB71}" type="datetimeFigureOut">
              <a:rPr lang="en-IN" smtClean="0"/>
              <a:t>18-06-2026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9B4C661-BFD6-4BDB-A2A0-62E104322E46}" type="slidenum">
              <a:rPr lang="en-IN" smtClean="0"/>
              <a:t>‹#›</a:t>
            </a:fld>
            <a:endParaRPr lang="en-IN"/>
          </a:p>
        </p:txBody>
      </p:sp>
    </p:spTree>
    <p:extLst>
      <p:ext uri="{BB962C8B-B14F-4D97-AF65-F5344CB8AC3E}">
        <p14:creationId xmlns:p14="http://schemas.microsoft.com/office/powerpoint/2010/main" val="25323198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596690F-4E81-4FFC-8639-CCFFE930BB71}" type="datetimeFigureOut">
              <a:rPr lang="en-IN" smtClean="0"/>
              <a:t>18-06-2026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9B4C661-BFD6-4BDB-A2A0-62E104322E46}" type="slidenum">
              <a:rPr lang="en-IN" smtClean="0"/>
              <a:t>‹#›</a:t>
            </a:fld>
            <a:endParaRPr lang="en-IN"/>
          </a:p>
        </p:txBody>
      </p:sp>
    </p:spTree>
    <p:extLst>
      <p:ext uri="{BB962C8B-B14F-4D97-AF65-F5344CB8AC3E}">
        <p14:creationId xmlns:p14="http://schemas.microsoft.com/office/powerpoint/2010/main" val="20051875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596690F-4E81-4FFC-8639-CCFFE930BB71}" type="datetimeFigureOut">
              <a:rPr lang="en-IN" smtClean="0"/>
              <a:t>18-06-2026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9B4C661-BFD6-4BDB-A2A0-62E104322E46}" type="slidenum">
              <a:rPr lang="en-IN" smtClean="0"/>
              <a:t>‹#›</a:t>
            </a:fld>
            <a:endParaRPr lang="en-IN"/>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2966758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596690F-4E81-4FFC-8639-CCFFE930BB71}" type="datetimeFigureOut">
              <a:rPr lang="en-IN" smtClean="0"/>
              <a:t>18-06-2026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9B4C661-BFD6-4BDB-A2A0-62E104322E46}" type="slidenum">
              <a:rPr lang="en-IN" smtClean="0"/>
              <a:t>‹#›</a:t>
            </a:fld>
            <a:endParaRPr lang="en-IN"/>
          </a:p>
        </p:txBody>
      </p:sp>
    </p:spTree>
    <p:extLst>
      <p:ext uri="{BB962C8B-B14F-4D97-AF65-F5344CB8AC3E}">
        <p14:creationId xmlns:p14="http://schemas.microsoft.com/office/powerpoint/2010/main" val="196465885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F596690F-4E81-4FFC-8639-CCFFE930BB71}" type="datetimeFigureOut">
              <a:rPr lang="en-IN" smtClean="0"/>
              <a:t>18-06-2026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9B4C661-BFD6-4BDB-A2A0-62E104322E46}" type="slidenum">
              <a:rPr lang="en-IN" smtClean="0"/>
              <a:t>‹#›</a:t>
            </a:fld>
            <a:endParaRPr lang="en-IN"/>
          </a:p>
        </p:txBody>
      </p:sp>
    </p:spTree>
    <p:extLst>
      <p:ext uri="{BB962C8B-B14F-4D97-AF65-F5344CB8AC3E}">
        <p14:creationId xmlns:p14="http://schemas.microsoft.com/office/powerpoint/2010/main" val="34348325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F596690F-4E81-4FFC-8639-CCFFE930BB71}" type="datetimeFigureOut">
              <a:rPr lang="en-IN" smtClean="0"/>
              <a:t>18-06-2026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9B4C661-BFD6-4BDB-A2A0-62E104322E46}" type="slidenum">
              <a:rPr lang="en-IN" smtClean="0"/>
              <a:t>‹#›</a:t>
            </a:fld>
            <a:endParaRPr lang="en-IN"/>
          </a:p>
        </p:txBody>
      </p:sp>
    </p:spTree>
    <p:extLst>
      <p:ext uri="{BB962C8B-B14F-4D97-AF65-F5344CB8AC3E}">
        <p14:creationId xmlns:p14="http://schemas.microsoft.com/office/powerpoint/2010/main" val="5200793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596690F-4E81-4FFC-8639-CCFFE930BB71}" type="datetimeFigureOut">
              <a:rPr lang="en-IN" smtClean="0"/>
              <a:t>18-06-2026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9B4C661-BFD6-4BDB-A2A0-62E104322E46}" type="slidenum">
              <a:rPr lang="en-IN" smtClean="0"/>
              <a:t>‹#›</a:t>
            </a:fld>
            <a:endParaRPr lang="en-IN"/>
          </a:p>
        </p:txBody>
      </p:sp>
    </p:spTree>
    <p:extLst>
      <p:ext uri="{BB962C8B-B14F-4D97-AF65-F5344CB8AC3E}">
        <p14:creationId xmlns:p14="http://schemas.microsoft.com/office/powerpoint/2010/main" val="21196454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596690F-4E81-4FFC-8639-CCFFE930BB71}" type="datetimeFigureOut">
              <a:rPr lang="en-IN" smtClean="0"/>
              <a:t>18-06-2026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9B4C661-BFD6-4BDB-A2A0-62E104322E46}" type="slidenum">
              <a:rPr lang="en-IN" smtClean="0"/>
              <a:t>‹#›</a:t>
            </a:fld>
            <a:endParaRPr lang="en-IN"/>
          </a:p>
        </p:txBody>
      </p:sp>
    </p:spTree>
    <p:extLst>
      <p:ext uri="{BB962C8B-B14F-4D97-AF65-F5344CB8AC3E}">
        <p14:creationId xmlns:p14="http://schemas.microsoft.com/office/powerpoint/2010/main" val="26462033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F596690F-4E81-4FFC-8639-CCFFE930BB71}" type="datetimeFigureOut">
              <a:rPr lang="en-IN" smtClean="0"/>
              <a:t>18-06-2026</a:t>
            </a:fld>
            <a:endParaRPr lang="en-IN"/>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F9B4C661-BFD6-4BDB-A2A0-62E104322E46}" type="slidenum">
              <a:rPr lang="en-IN" smtClean="0"/>
              <a:t>‹#›</a:t>
            </a:fld>
            <a:endParaRPr lang="en-IN"/>
          </a:p>
        </p:txBody>
      </p:sp>
    </p:spTree>
    <p:extLst>
      <p:ext uri="{BB962C8B-B14F-4D97-AF65-F5344CB8AC3E}">
        <p14:creationId xmlns:p14="http://schemas.microsoft.com/office/powerpoint/2010/main" val="2172275944"/>
      </p:ext>
    </p:extLst>
  </p:cSld>
  <p:clrMap bg1="dk1" tx1="lt1" bg2="dk2" tx2="lt2" accent1="accent1" accent2="accent2" accent3="accent3" accent4="accent4" accent5="accent5" accent6="accent6" hlink="hlink" folHlink="folHlink"/>
  <p:sldLayoutIdLst>
    <p:sldLayoutId id="2147483967" r:id="rId1"/>
    <p:sldLayoutId id="2147483968" r:id="rId2"/>
    <p:sldLayoutId id="2147483969" r:id="rId3"/>
    <p:sldLayoutId id="2147483970" r:id="rId4"/>
    <p:sldLayoutId id="2147483971" r:id="rId5"/>
    <p:sldLayoutId id="2147483972" r:id="rId6"/>
    <p:sldLayoutId id="2147483973" r:id="rId7"/>
    <p:sldLayoutId id="2147483974" r:id="rId8"/>
    <p:sldLayoutId id="2147483975" r:id="rId9"/>
    <p:sldLayoutId id="2147483976" r:id="rId10"/>
    <p:sldLayoutId id="2147483977" r:id="rId11"/>
    <p:sldLayoutId id="2147483978" r:id="rId12"/>
    <p:sldLayoutId id="2147483979" r:id="rId13"/>
    <p:sldLayoutId id="2147483980" r:id="rId14"/>
    <p:sldLayoutId id="2147483981" r:id="rId15"/>
    <p:sldLayoutId id="2147483982" r:id="rId16"/>
    <p:sldLayoutId id="2147483983"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DCBC74F0-CD28-B406-4608-C45E84541B03}"/>
              </a:ext>
            </a:extLst>
          </p:cNvPr>
          <p:cNvSpPr>
            <a:spLocks noGrp="1"/>
          </p:cNvSpPr>
          <p:nvPr>
            <p:ph type="ctrTitle"/>
          </p:nvPr>
        </p:nvSpPr>
        <p:spPr>
          <a:xfrm>
            <a:off x="2141896" y="0"/>
            <a:ext cx="7257742" cy="4033684"/>
          </a:xfrm>
        </p:spPr>
        <p:txBody>
          <a:bodyPr>
            <a:normAutofit/>
          </a:bodyPr>
          <a:lstStyle/>
          <a:p>
            <a:pPr marL="0" indent="0" algn="ctr">
              <a:lnSpc>
                <a:spcPct val="110000"/>
              </a:lnSpc>
            </a:pPr>
            <a:r>
              <a:rPr lang="en-US" b="1" dirty="0">
                <a:solidFill>
                  <a:srgbClr val="2C2C2C"/>
                </a:solidFill>
                <a:latin typeface="Arial" panose="020B0604020202020204" pitchFamily="34" charset="0"/>
                <a:ea typeface="Arial Black" pitchFamily="34" charset="-122"/>
                <a:cs typeface="Arial" panose="020B0604020202020204" pitchFamily="34" charset="0"/>
              </a:rPr>
              <a:t>CYBERSECURITY</a:t>
            </a:r>
            <a:br>
              <a:rPr lang="en-US" dirty="0">
                <a:latin typeface="Arial" panose="020B0604020202020204" pitchFamily="34" charset="0"/>
                <a:cs typeface="Arial" panose="020B0604020202020204" pitchFamily="34" charset="0"/>
              </a:rPr>
            </a:br>
            <a:r>
              <a:rPr lang="en-US" b="1" dirty="0">
                <a:solidFill>
                  <a:srgbClr val="2C2C2C"/>
                </a:solidFill>
                <a:latin typeface="Arial" panose="020B0604020202020204" pitchFamily="34" charset="0"/>
                <a:ea typeface="Arial Black" pitchFamily="34" charset="-122"/>
                <a:cs typeface="Arial" panose="020B0604020202020204" pitchFamily="34" charset="0"/>
              </a:rPr>
              <a:t>THREATS ANALYSIS</a:t>
            </a:r>
            <a:br>
              <a:rPr lang="en-US" dirty="0">
                <a:latin typeface="Arial" panose="020B0604020202020204" pitchFamily="34" charset="0"/>
                <a:cs typeface="Arial" panose="020B0604020202020204" pitchFamily="34" charset="0"/>
              </a:rPr>
            </a:br>
            <a:r>
              <a:rPr lang="en-US" b="1" dirty="0">
                <a:solidFill>
                  <a:srgbClr val="2C2C2C"/>
                </a:solidFill>
                <a:latin typeface="Arial" panose="020B0604020202020204" pitchFamily="34" charset="0"/>
                <a:ea typeface="Arial Black" pitchFamily="34" charset="-122"/>
                <a:cs typeface="Arial" panose="020B0604020202020204" pitchFamily="34" charset="0"/>
              </a:rPr>
              <a:t>DASHBOARD</a:t>
            </a:r>
            <a:br>
              <a:rPr lang="en-US" dirty="0"/>
            </a:br>
            <a:endParaRPr lang="en-IN" dirty="0"/>
          </a:p>
        </p:txBody>
      </p:sp>
      <p:sp>
        <p:nvSpPr>
          <p:cNvPr id="2" name="TextBox 1">
            <a:extLst>
              <a:ext uri="{FF2B5EF4-FFF2-40B4-BE49-F238E27FC236}">
                <a16:creationId xmlns:a16="http://schemas.microsoft.com/office/drawing/2014/main" id="{D3978053-E56D-5188-EEF1-668944CAEA6A}"/>
              </a:ext>
            </a:extLst>
          </p:cNvPr>
          <p:cNvSpPr txBox="1"/>
          <p:nvPr/>
        </p:nvSpPr>
        <p:spPr>
          <a:xfrm>
            <a:off x="1248697" y="4098822"/>
            <a:ext cx="4267200" cy="1200329"/>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POWER BI PROJECT</a:t>
            </a:r>
          </a:p>
          <a:p>
            <a:endParaRPr lang="en-US" b="1" i="1" dirty="0">
              <a:latin typeface="Arial" panose="020B0604020202020204" pitchFamily="34" charset="0"/>
              <a:cs typeface="Arial" panose="020B0604020202020204" pitchFamily="34" charset="0"/>
            </a:endParaRPr>
          </a:p>
          <a:p>
            <a:r>
              <a:rPr lang="en-US" i="1" dirty="0">
                <a:latin typeface="Arial" panose="020B0604020202020204" pitchFamily="34" charset="0"/>
                <a:cs typeface="Arial" panose="020B0604020202020204" pitchFamily="34" charset="0"/>
              </a:rPr>
              <a:t>Presented by : Aswanth T K</a:t>
            </a:r>
            <a:endParaRPr lang="en-IN" i="1" dirty="0">
              <a:latin typeface="Arial" panose="020B0604020202020204" pitchFamily="34" charset="0"/>
              <a:cs typeface="Arial" panose="020B0604020202020204" pitchFamily="34" charset="0"/>
            </a:endParaRPr>
          </a:p>
          <a:p>
            <a:endParaRPr lang="en-IN" dirty="0"/>
          </a:p>
        </p:txBody>
      </p:sp>
    </p:spTree>
    <p:extLst>
      <p:ext uri="{BB962C8B-B14F-4D97-AF65-F5344CB8AC3E}">
        <p14:creationId xmlns:p14="http://schemas.microsoft.com/office/powerpoint/2010/main" val="1024579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FFD78C2-1AEB-76E6-D06E-674507337ED3}"/>
              </a:ext>
            </a:extLst>
          </p:cNvPr>
          <p:cNvSpPr>
            <a:spLocks noGrp="1"/>
          </p:cNvSpPr>
          <p:nvPr>
            <p:ph type="title"/>
          </p:nvPr>
        </p:nvSpPr>
        <p:spPr>
          <a:xfrm>
            <a:off x="856277" y="126905"/>
            <a:ext cx="9905998" cy="1478570"/>
          </a:xfrm>
        </p:spPr>
        <p:txBody>
          <a:bodyPr>
            <a:normAutofit/>
          </a:bodyPr>
          <a:lstStyle/>
          <a:p>
            <a:r>
              <a:rPr lang="en-US" sz="2800" b="1" dirty="0">
                <a:solidFill>
                  <a:schemeClr val="bg1"/>
                </a:solidFill>
                <a:latin typeface="Arial" panose="020B0604020202020204" pitchFamily="34" charset="0"/>
                <a:cs typeface="Arial" panose="020B0604020202020204" pitchFamily="34" charset="0"/>
              </a:rPr>
              <a:t>INTRODUCTION</a:t>
            </a:r>
            <a:endParaRPr lang="en-IN" sz="2800" b="1" dirty="0">
              <a:solidFill>
                <a:schemeClr val="bg1"/>
              </a:solidFill>
              <a:latin typeface="Arial" panose="020B0604020202020204" pitchFamily="34" charset="0"/>
              <a:cs typeface="Arial" panose="020B0604020202020204" pitchFamily="34" charset="0"/>
            </a:endParaRPr>
          </a:p>
        </p:txBody>
      </p:sp>
      <p:sp>
        <p:nvSpPr>
          <p:cNvPr id="5" name="Content Placeholder 4">
            <a:extLst>
              <a:ext uri="{FF2B5EF4-FFF2-40B4-BE49-F238E27FC236}">
                <a16:creationId xmlns:a16="http://schemas.microsoft.com/office/drawing/2014/main" id="{5789C93C-504E-272F-D69B-9483B772C455}"/>
              </a:ext>
            </a:extLst>
          </p:cNvPr>
          <p:cNvSpPr>
            <a:spLocks noGrp="1"/>
          </p:cNvSpPr>
          <p:nvPr>
            <p:ph idx="1"/>
          </p:nvPr>
        </p:nvSpPr>
        <p:spPr>
          <a:xfrm>
            <a:off x="856277" y="1394080"/>
            <a:ext cx="9905999" cy="4534771"/>
          </a:xfrm>
        </p:spPr>
        <p:txBody>
          <a:bodyPr>
            <a:normAutofit fontScale="92500" lnSpcReduction="20000"/>
          </a:bodyPr>
          <a:lstStyle/>
          <a:p>
            <a:pPr marL="0" indent="0">
              <a:buNone/>
            </a:pPr>
            <a:r>
              <a:rPr lang="en-US" sz="2200" dirty="0">
                <a:latin typeface="Arial" panose="020B0604020202020204" pitchFamily="34" charset="0"/>
                <a:ea typeface="Calibri" pitchFamily="34" charset="-122"/>
                <a:cs typeface="Arial" panose="020B0604020202020204" pitchFamily="34" charset="0"/>
              </a:rPr>
              <a:t>This project aims to analyze global cybersecurity threat data to identify key patterns and attack trends. Using Microsoft Excel, various data analysis techniques such as data cleaning, sorting, filtering, and visualization have been applied to gain meaningful insights. The goal is to highlight trends that can help organizations and policymakers strengthen cybersecurity defenses through data-driven decisions.</a:t>
            </a:r>
          </a:p>
          <a:p>
            <a:pPr marL="0" indent="0">
              <a:buNone/>
            </a:pPr>
            <a:endParaRPr lang="en-US" sz="1800" b="1" dirty="0"/>
          </a:p>
          <a:p>
            <a:pPr marL="0" indent="0">
              <a:buNone/>
            </a:pPr>
            <a:r>
              <a:rPr lang="en-IN" sz="3000" b="1" dirty="0">
                <a:solidFill>
                  <a:schemeClr val="bg1"/>
                </a:solidFill>
                <a:latin typeface="+mj-lt"/>
              </a:rPr>
              <a:t>Dataset Description</a:t>
            </a:r>
          </a:p>
          <a:p>
            <a:pPr>
              <a:buFont typeface="Wingdings" panose="05000000000000000000" pitchFamily="2" charset="2"/>
              <a:buChar char="Ø"/>
            </a:pPr>
            <a:r>
              <a:rPr lang="en-US" sz="1900" b="1" dirty="0">
                <a:latin typeface="Calibri" pitchFamily="34" charset="0"/>
                <a:ea typeface="Calibri" pitchFamily="34" charset="-122"/>
                <a:cs typeface="Calibri" pitchFamily="34" charset="-120"/>
              </a:rPr>
              <a:t>Total Records: </a:t>
            </a:r>
            <a:r>
              <a:rPr lang="en-US" sz="1900" dirty="0">
                <a:latin typeface="Calibri" pitchFamily="34" charset="0"/>
                <a:ea typeface="Calibri" pitchFamily="34" charset="-122"/>
                <a:cs typeface="Calibri" pitchFamily="34" charset="-120"/>
              </a:rPr>
              <a:t>3,001 rows</a:t>
            </a:r>
            <a:endParaRPr lang="en-US" sz="1900" dirty="0"/>
          </a:p>
          <a:p>
            <a:pPr>
              <a:buFont typeface="Wingdings" panose="05000000000000000000" pitchFamily="2" charset="2"/>
              <a:buChar char="Ø"/>
            </a:pPr>
            <a:r>
              <a:rPr lang="en-US" sz="1900" b="1" dirty="0">
                <a:latin typeface="Calibri" pitchFamily="34" charset="0"/>
                <a:ea typeface="Calibri" pitchFamily="34" charset="-122"/>
                <a:cs typeface="Calibri" pitchFamily="34" charset="-120"/>
              </a:rPr>
              <a:t>Total Features: </a:t>
            </a:r>
            <a:r>
              <a:rPr lang="en-US" sz="1900" dirty="0">
                <a:latin typeface="Calibri" pitchFamily="34" charset="0"/>
                <a:ea typeface="Calibri" pitchFamily="34" charset="-122"/>
                <a:cs typeface="Calibri" pitchFamily="34" charset="-120"/>
              </a:rPr>
              <a:t>10 columns</a:t>
            </a:r>
            <a:endParaRPr lang="en-US" sz="1900" dirty="0"/>
          </a:p>
          <a:p>
            <a:pPr>
              <a:buFont typeface="Wingdings" panose="05000000000000000000" pitchFamily="2" charset="2"/>
              <a:buChar char="Ø"/>
            </a:pPr>
            <a:r>
              <a:rPr lang="en-US" sz="1900" b="1" dirty="0">
                <a:latin typeface="Calibri" pitchFamily="34" charset="0"/>
                <a:ea typeface="Calibri" pitchFamily="34" charset="-122"/>
                <a:cs typeface="Calibri" pitchFamily="34" charset="-120"/>
              </a:rPr>
              <a:t>Project Context: </a:t>
            </a:r>
            <a:r>
              <a:rPr lang="en-US" sz="1900" dirty="0">
                <a:latin typeface="Calibri" pitchFamily="34" charset="0"/>
                <a:ea typeface="Calibri" pitchFamily="34" charset="-122"/>
                <a:cs typeface="Calibri" pitchFamily="34" charset="-120"/>
              </a:rPr>
              <a:t>This dataset covers cybersecurity incidents across 10 countries from 2015–2024, including attack types, financial losses, affected users, attack sources, vulnerabilities, and defense mechanisms used.</a:t>
            </a:r>
            <a:endParaRPr lang="en-US" sz="1900" dirty="0"/>
          </a:p>
          <a:p>
            <a:endParaRPr lang="en-IN" dirty="0"/>
          </a:p>
        </p:txBody>
      </p:sp>
    </p:spTree>
    <p:extLst>
      <p:ext uri="{BB962C8B-B14F-4D97-AF65-F5344CB8AC3E}">
        <p14:creationId xmlns:p14="http://schemas.microsoft.com/office/powerpoint/2010/main" val="39586724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D61B4E-A33B-319B-EDFC-5432DAF60D58}"/>
              </a:ext>
            </a:extLst>
          </p:cNvPr>
          <p:cNvSpPr>
            <a:spLocks noGrp="1"/>
          </p:cNvSpPr>
          <p:nvPr>
            <p:ph type="title"/>
          </p:nvPr>
        </p:nvSpPr>
        <p:spPr>
          <a:xfrm>
            <a:off x="875943" y="421873"/>
            <a:ext cx="9905998" cy="1478570"/>
          </a:xfrm>
        </p:spPr>
        <p:txBody>
          <a:bodyPr/>
          <a:lstStyle/>
          <a:p>
            <a:r>
              <a:rPr lang="en-US" sz="2800" b="1" dirty="0">
                <a:solidFill>
                  <a:srgbClr val="2C2C2C"/>
                </a:solidFill>
                <a:latin typeface="Arial" pitchFamily="34" charset="0"/>
                <a:ea typeface="Arial" pitchFamily="34" charset="-122"/>
                <a:cs typeface="Arial" pitchFamily="34" charset="-120"/>
              </a:rPr>
              <a:t>ANALYSIS &amp; INSIGHTS</a:t>
            </a:r>
            <a:br>
              <a:rPr lang="en-US" dirty="0"/>
            </a:br>
            <a:endParaRPr lang="en-IN" dirty="0"/>
          </a:p>
        </p:txBody>
      </p:sp>
      <p:sp>
        <p:nvSpPr>
          <p:cNvPr id="3" name="Content Placeholder 2">
            <a:extLst>
              <a:ext uri="{FF2B5EF4-FFF2-40B4-BE49-F238E27FC236}">
                <a16:creationId xmlns:a16="http://schemas.microsoft.com/office/drawing/2014/main" id="{FD6F9947-B13A-733C-5A5C-BCD07F45D324}"/>
              </a:ext>
            </a:extLst>
          </p:cNvPr>
          <p:cNvSpPr>
            <a:spLocks noGrp="1"/>
          </p:cNvSpPr>
          <p:nvPr>
            <p:ph idx="1"/>
          </p:nvPr>
        </p:nvSpPr>
        <p:spPr>
          <a:xfrm>
            <a:off x="973395" y="1462905"/>
            <a:ext cx="10599174" cy="4810075"/>
          </a:xfrm>
        </p:spPr>
        <p:txBody>
          <a:bodyPr>
            <a:normAutofit/>
          </a:bodyPr>
          <a:lstStyle/>
          <a:p>
            <a:pPr marL="0" indent="0">
              <a:buNone/>
            </a:pPr>
            <a:r>
              <a:rPr lang="en-US" b="1" dirty="0">
                <a:solidFill>
                  <a:schemeClr val="bg1"/>
                </a:solidFill>
                <a:latin typeface="Arial" panose="020B0604020202020204" pitchFamily="34" charset="0"/>
                <a:ea typeface="Calibri" pitchFamily="34" charset="-122"/>
                <a:cs typeface="Arial" panose="020B0604020202020204" pitchFamily="34" charset="0"/>
              </a:rPr>
              <a:t>1. Attack Type Distribution</a:t>
            </a:r>
          </a:p>
          <a:p>
            <a:pPr>
              <a:buFont typeface="Wingdings" panose="05000000000000000000" pitchFamily="2" charset="2"/>
              <a:buChar char="Ø"/>
            </a:pPr>
            <a:r>
              <a:rPr lang="en-US" sz="2000" dirty="0">
                <a:latin typeface="Arial" panose="020B0604020202020204" pitchFamily="34" charset="0"/>
                <a:ea typeface="Calibri" pitchFamily="34" charset="-122"/>
                <a:cs typeface="Arial" panose="020B0604020202020204" pitchFamily="34" charset="0"/>
              </a:rPr>
              <a:t>DDoS is the most frequent attack type (531 incidents), followed closely by Phishing (529) and SQL Injection (503).</a:t>
            </a:r>
          </a:p>
          <a:p>
            <a:pPr>
              <a:buFont typeface="Wingdings" panose="05000000000000000000" pitchFamily="2" charset="2"/>
              <a:buChar char="Ø"/>
            </a:pPr>
            <a:r>
              <a:rPr lang="en-US" sz="2000" dirty="0">
                <a:latin typeface="Arial" panose="020B0604020202020204" pitchFamily="34" charset="0"/>
                <a:ea typeface="Calibri" pitchFamily="34" charset="-122"/>
                <a:cs typeface="Arial" panose="020B0604020202020204" pitchFamily="34" charset="0"/>
              </a:rPr>
              <a:t>Ransomware and Malware are also significant, each contributing ~500 incidents to the dataset.</a:t>
            </a:r>
          </a:p>
          <a:p>
            <a:pPr marL="0" indent="0">
              <a:buNone/>
            </a:pPr>
            <a:endParaRPr lang="en-US" sz="1600" dirty="0">
              <a:latin typeface="Arial" panose="020B0604020202020204" pitchFamily="34" charset="0"/>
              <a:ea typeface="Calibri" pitchFamily="34" charset="-122"/>
              <a:cs typeface="Arial" panose="020B0604020202020204" pitchFamily="34" charset="0"/>
            </a:endParaRPr>
          </a:p>
          <a:p>
            <a:pPr marL="0" indent="0">
              <a:buNone/>
            </a:pPr>
            <a:r>
              <a:rPr lang="en-US" b="1" dirty="0">
                <a:solidFill>
                  <a:schemeClr val="bg1"/>
                </a:solidFill>
                <a:latin typeface="Arial" panose="020B0604020202020204" pitchFamily="34" charset="0"/>
                <a:ea typeface="Calibri" pitchFamily="34" charset="-122"/>
                <a:cs typeface="Arial" panose="020B0604020202020204" pitchFamily="34" charset="0"/>
              </a:rPr>
              <a:t>2. Financial Loss by Attack Type</a:t>
            </a:r>
          </a:p>
          <a:p>
            <a:pPr>
              <a:buFont typeface="Wingdings" panose="05000000000000000000" pitchFamily="2" charset="2"/>
              <a:buChar char="Ø"/>
            </a:pPr>
            <a:r>
              <a:rPr lang="en-US" sz="2000" dirty="0">
                <a:latin typeface="Arial" panose="020B0604020202020204" pitchFamily="34" charset="0"/>
                <a:ea typeface="Calibri" pitchFamily="34" charset="-122"/>
                <a:cs typeface="Arial" panose="020B0604020202020204" pitchFamily="34" charset="0"/>
              </a:rPr>
              <a:t>DDoS attacks cause the highest average financial loss at $52.04M per incident.</a:t>
            </a:r>
          </a:p>
          <a:p>
            <a:pPr>
              <a:buFont typeface="Wingdings" panose="05000000000000000000" pitchFamily="2" charset="2"/>
              <a:buChar char="Ø"/>
            </a:pPr>
            <a:r>
              <a:rPr lang="en-US" sz="2000" dirty="0">
                <a:latin typeface="Arial" panose="020B0604020202020204" pitchFamily="34" charset="0"/>
                <a:ea typeface="Calibri" pitchFamily="34" charset="-122"/>
                <a:cs typeface="Arial" panose="020B0604020202020204" pitchFamily="34" charset="0"/>
              </a:rPr>
              <a:t>Man-in-the-Middle attacks average $51.31M, while Malware results in the lowest average loss at $49.42M.</a:t>
            </a:r>
            <a:endParaRPr lang="en-US" sz="2000" dirty="0">
              <a:latin typeface="Arial" panose="020B0604020202020204" pitchFamily="34" charset="0"/>
              <a:cs typeface="Arial" panose="020B0604020202020204" pitchFamily="34" charset="0"/>
            </a:endParaRPr>
          </a:p>
          <a:p>
            <a:endParaRPr lang="en-US" sz="1800" dirty="0">
              <a:latin typeface="Calibri" pitchFamily="34" charset="0"/>
              <a:ea typeface="Calibri" pitchFamily="34" charset="-122"/>
              <a:cs typeface="Calibri" pitchFamily="34" charset="-120"/>
            </a:endParaRPr>
          </a:p>
          <a:p>
            <a:endParaRPr lang="en-US" sz="1800" dirty="0"/>
          </a:p>
          <a:p>
            <a:pPr marL="0" indent="0">
              <a:buNone/>
            </a:pPr>
            <a:endParaRPr lang="en-US" sz="1600" dirty="0">
              <a:latin typeface="Calibri" pitchFamily="34" charset="0"/>
              <a:ea typeface="Calibri" pitchFamily="34" charset="-122"/>
              <a:cs typeface="Calibri" pitchFamily="34" charset="-120"/>
            </a:endParaRPr>
          </a:p>
          <a:p>
            <a:endParaRPr lang="en-US" sz="1600" dirty="0">
              <a:latin typeface="Calibri" pitchFamily="34" charset="0"/>
              <a:ea typeface="Calibri" pitchFamily="34" charset="-122"/>
              <a:cs typeface="Calibri" pitchFamily="34" charset="-120"/>
            </a:endParaRPr>
          </a:p>
          <a:p>
            <a:endParaRPr lang="en-US" sz="1600" dirty="0">
              <a:latin typeface="Calibri" pitchFamily="34" charset="0"/>
              <a:ea typeface="Calibri" pitchFamily="34" charset="-122"/>
              <a:cs typeface="Calibri" pitchFamily="34" charset="-120"/>
            </a:endParaRPr>
          </a:p>
          <a:p>
            <a:pPr marL="0" indent="0">
              <a:buNone/>
            </a:pPr>
            <a:endParaRPr lang="en-US" sz="1600" dirty="0"/>
          </a:p>
          <a:p>
            <a:pPr marL="0" indent="0">
              <a:buNone/>
            </a:pPr>
            <a:endParaRPr lang="en-US" sz="1800" dirty="0"/>
          </a:p>
          <a:p>
            <a:endParaRPr lang="en-IN" dirty="0"/>
          </a:p>
        </p:txBody>
      </p:sp>
    </p:spTree>
    <p:extLst>
      <p:ext uri="{BB962C8B-B14F-4D97-AF65-F5344CB8AC3E}">
        <p14:creationId xmlns:p14="http://schemas.microsoft.com/office/powerpoint/2010/main" val="21202021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B704C697-75D4-EDE8-2E6C-DA3DA189A13A}"/>
              </a:ext>
            </a:extLst>
          </p:cNvPr>
          <p:cNvSpPr>
            <a:spLocks noGrp="1"/>
          </p:cNvSpPr>
          <p:nvPr>
            <p:ph idx="1"/>
          </p:nvPr>
        </p:nvSpPr>
        <p:spPr>
          <a:xfrm>
            <a:off x="1143000" y="609087"/>
            <a:ext cx="9906000" cy="5064125"/>
          </a:xfrm>
        </p:spPr>
        <p:txBody>
          <a:bodyPr/>
          <a:lstStyle/>
          <a:p>
            <a:pPr marL="0" indent="0">
              <a:buNone/>
            </a:pPr>
            <a:r>
              <a:rPr lang="en-US" b="1" dirty="0">
                <a:solidFill>
                  <a:schemeClr val="bg1"/>
                </a:solidFill>
                <a:latin typeface="Arial" panose="020B0604020202020204" pitchFamily="34" charset="0"/>
                <a:ea typeface="Calibri" pitchFamily="34" charset="-122"/>
                <a:cs typeface="Arial" panose="020B0604020202020204" pitchFamily="34" charset="0"/>
              </a:rPr>
              <a:t>3. Target Industry vs. Attacks</a:t>
            </a:r>
          </a:p>
          <a:p>
            <a:pPr>
              <a:buFont typeface="Wingdings" panose="05000000000000000000" pitchFamily="2" charset="2"/>
              <a:buChar char="Ø"/>
            </a:pPr>
            <a:r>
              <a:rPr lang="en-US" sz="2000" dirty="0">
                <a:latin typeface="Arial" panose="020B0604020202020204" pitchFamily="34" charset="0"/>
                <a:ea typeface="Calibri" pitchFamily="34" charset="-122"/>
                <a:cs typeface="Arial" panose="020B0604020202020204" pitchFamily="34" charset="0"/>
              </a:rPr>
              <a:t>IT sector is the most targeted industry (478 incidents), followed by Banking (445) and Healthcare (429).</a:t>
            </a:r>
          </a:p>
          <a:p>
            <a:pPr>
              <a:buFont typeface="Wingdings" panose="05000000000000000000" pitchFamily="2" charset="2"/>
              <a:buChar char="Ø"/>
            </a:pPr>
            <a:r>
              <a:rPr lang="en-US" sz="2000" dirty="0">
                <a:latin typeface="Arial" panose="020B0604020202020204" pitchFamily="34" charset="0"/>
                <a:ea typeface="Calibri" pitchFamily="34" charset="-122"/>
                <a:cs typeface="Arial" panose="020B0604020202020204" pitchFamily="34" charset="0"/>
              </a:rPr>
              <a:t>Government and Retail sectors also face significant threats, highlighting the broad attack surface across industries.</a:t>
            </a:r>
          </a:p>
          <a:p>
            <a:endParaRPr lang="en-US" sz="1800" dirty="0">
              <a:latin typeface="Arial" panose="020B0604020202020204" pitchFamily="34" charset="0"/>
              <a:ea typeface="Calibri" pitchFamily="34" charset="-122"/>
              <a:cs typeface="Arial" panose="020B0604020202020204" pitchFamily="34" charset="0"/>
            </a:endParaRPr>
          </a:p>
          <a:p>
            <a:pPr marL="0" indent="0">
              <a:buNone/>
            </a:pPr>
            <a:r>
              <a:rPr lang="en-US" b="1" dirty="0">
                <a:solidFill>
                  <a:schemeClr val="bg1"/>
                </a:solidFill>
                <a:latin typeface="Arial" panose="020B0604020202020204" pitchFamily="34" charset="0"/>
                <a:ea typeface="Calibri" pitchFamily="34" charset="-122"/>
                <a:cs typeface="Arial" panose="020B0604020202020204" pitchFamily="34" charset="0"/>
              </a:rPr>
              <a:t>4. Attack Source Analysis</a:t>
            </a:r>
          </a:p>
          <a:p>
            <a:pPr>
              <a:buFont typeface="Wingdings" panose="05000000000000000000" pitchFamily="2" charset="2"/>
              <a:buChar char="Ø"/>
            </a:pPr>
            <a:r>
              <a:rPr lang="en-US" sz="2000" dirty="0">
                <a:latin typeface="Arial" panose="020B0604020202020204" pitchFamily="34" charset="0"/>
                <a:ea typeface="Calibri" pitchFamily="34" charset="-122"/>
                <a:cs typeface="Arial" panose="020B0604020202020204" pitchFamily="34" charset="0"/>
              </a:rPr>
              <a:t>Nation-state actors are the leading attack source (794 incidents), indicating the geopolitical dimension of cybercrime.</a:t>
            </a:r>
          </a:p>
          <a:p>
            <a:pPr>
              <a:buFont typeface="Wingdings" panose="05000000000000000000" pitchFamily="2" charset="2"/>
              <a:buChar char="Ø"/>
            </a:pPr>
            <a:r>
              <a:rPr lang="en-US" sz="2000" dirty="0">
                <a:latin typeface="Arial" panose="020B0604020202020204" pitchFamily="34" charset="0"/>
                <a:ea typeface="Calibri" pitchFamily="34" charset="-122"/>
                <a:cs typeface="Arial" panose="020B0604020202020204" pitchFamily="34" charset="0"/>
              </a:rPr>
              <a:t>Insider threats account for 752 incidents, emphasizing the critical need for internal access controls and monitoring.</a:t>
            </a:r>
            <a:endParaRPr lang="en-US" sz="2000" dirty="0">
              <a:latin typeface="Arial" panose="020B0604020202020204" pitchFamily="34" charset="0"/>
              <a:cs typeface="Arial" panose="020B0604020202020204" pitchFamily="34" charset="0"/>
            </a:endParaRPr>
          </a:p>
          <a:p>
            <a:endParaRPr lang="en-US" sz="1800" b="1" dirty="0">
              <a:latin typeface="Calibri" pitchFamily="34" charset="0"/>
              <a:ea typeface="Calibri" pitchFamily="34" charset="-122"/>
              <a:cs typeface="Calibri" pitchFamily="34" charset="-120"/>
            </a:endParaRPr>
          </a:p>
          <a:p>
            <a:pPr marL="0" indent="0">
              <a:buNone/>
            </a:pPr>
            <a:endParaRPr lang="en-US" sz="2000" dirty="0"/>
          </a:p>
          <a:p>
            <a:pPr marL="0" indent="0">
              <a:buNone/>
            </a:pPr>
            <a:endParaRPr lang="en-US" sz="2000" b="1" dirty="0">
              <a:latin typeface="Calibri" pitchFamily="34" charset="0"/>
              <a:ea typeface="Calibri" pitchFamily="34" charset="-122"/>
              <a:cs typeface="Calibri" pitchFamily="34" charset="-120"/>
            </a:endParaRPr>
          </a:p>
          <a:p>
            <a:pPr marL="0" indent="0">
              <a:buNone/>
            </a:pPr>
            <a:endParaRPr lang="en-US" sz="2000" dirty="0"/>
          </a:p>
          <a:p>
            <a:endParaRPr lang="en-IN" dirty="0"/>
          </a:p>
        </p:txBody>
      </p:sp>
    </p:spTree>
    <p:extLst>
      <p:ext uri="{BB962C8B-B14F-4D97-AF65-F5344CB8AC3E}">
        <p14:creationId xmlns:p14="http://schemas.microsoft.com/office/powerpoint/2010/main" val="25308795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E2831AE-89F5-BFCA-C0BE-16D3FA9E6CD2}"/>
              </a:ext>
            </a:extLst>
          </p:cNvPr>
          <p:cNvSpPr>
            <a:spLocks noGrp="1"/>
          </p:cNvSpPr>
          <p:nvPr>
            <p:ph idx="1"/>
          </p:nvPr>
        </p:nvSpPr>
        <p:spPr>
          <a:xfrm>
            <a:off x="1141412" y="658761"/>
            <a:ext cx="9905999" cy="5132440"/>
          </a:xfrm>
        </p:spPr>
        <p:txBody>
          <a:bodyPr/>
          <a:lstStyle/>
          <a:p>
            <a:pPr marL="0" indent="0">
              <a:buNone/>
            </a:pPr>
            <a:r>
              <a:rPr lang="en-US" b="1" dirty="0">
                <a:solidFill>
                  <a:schemeClr val="bg1"/>
                </a:solidFill>
                <a:latin typeface="Arial" panose="020B0604020202020204" pitchFamily="34" charset="0"/>
                <a:ea typeface="Calibri" pitchFamily="34" charset="-122"/>
                <a:cs typeface="Arial" panose="020B0604020202020204" pitchFamily="34" charset="0"/>
              </a:rPr>
              <a:t>5. Country-wise Incident Volume</a:t>
            </a:r>
          </a:p>
          <a:p>
            <a:pPr>
              <a:buFont typeface="Wingdings" panose="05000000000000000000" pitchFamily="2" charset="2"/>
              <a:buChar char="Ø"/>
            </a:pPr>
            <a:r>
              <a:rPr lang="en-US" sz="2000" dirty="0">
                <a:latin typeface="Arial" panose="020B0604020202020204" pitchFamily="34" charset="0"/>
                <a:ea typeface="Calibri" pitchFamily="34" charset="-122"/>
                <a:cs typeface="Arial" panose="020B0604020202020204" pitchFamily="34" charset="0"/>
              </a:rPr>
              <a:t>UK leads in reported incidents (321), followed by Brazil (310), India (308), and France (305).</a:t>
            </a:r>
            <a:endParaRPr lang="en-US" sz="2000" dirty="0">
              <a:latin typeface="Arial" panose="020B0604020202020204" pitchFamily="34" charset="0"/>
              <a:cs typeface="Arial" panose="020B0604020202020204" pitchFamily="34" charset="0"/>
            </a:endParaRPr>
          </a:p>
          <a:p>
            <a:pPr>
              <a:buFont typeface="Wingdings" panose="05000000000000000000" pitchFamily="2" charset="2"/>
              <a:buChar char="Ø"/>
            </a:pPr>
            <a:r>
              <a:rPr lang="en-US" sz="2000" dirty="0">
                <a:latin typeface="Arial" panose="020B0604020202020204" pitchFamily="34" charset="0"/>
                <a:ea typeface="Calibri" pitchFamily="34" charset="-122"/>
                <a:cs typeface="Arial" panose="020B0604020202020204" pitchFamily="34" charset="0"/>
              </a:rPr>
              <a:t>High-income nations show more reported incidents, which may reflect better detection and reporting infrastructure rather than higher actual threat exposure.</a:t>
            </a:r>
          </a:p>
          <a:p>
            <a:pPr marL="0" indent="0">
              <a:buNone/>
            </a:pPr>
            <a:endParaRPr lang="en-US" sz="2000" dirty="0">
              <a:latin typeface="Arial" panose="020B0604020202020204" pitchFamily="34" charset="0"/>
              <a:ea typeface="Calibri" pitchFamily="34" charset="-122"/>
              <a:cs typeface="Arial" panose="020B0604020202020204" pitchFamily="34" charset="0"/>
            </a:endParaRPr>
          </a:p>
          <a:p>
            <a:pPr marL="0" indent="0">
              <a:buNone/>
            </a:pPr>
            <a:r>
              <a:rPr lang="en-US" b="1" dirty="0">
                <a:solidFill>
                  <a:schemeClr val="bg1"/>
                </a:solidFill>
                <a:latin typeface="Arial" panose="020B0604020202020204" pitchFamily="34" charset="0"/>
                <a:ea typeface="Calibri" pitchFamily="34" charset="-122"/>
                <a:cs typeface="Arial" panose="020B0604020202020204" pitchFamily="34" charset="0"/>
              </a:rPr>
              <a:t>6. Defense Mechanisms &amp; Resolution Time</a:t>
            </a:r>
          </a:p>
          <a:p>
            <a:pPr>
              <a:buFont typeface="Wingdings" panose="05000000000000000000" pitchFamily="2" charset="2"/>
              <a:buChar char="Ø"/>
            </a:pPr>
            <a:r>
              <a:rPr lang="en-US" sz="2000" dirty="0">
                <a:latin typeface="Arial" panose="020B0604020202020204" pitchFamily="34" charset="0"/>
                <a:ea typeface="Calibri" pitchFamily="34" charset="-122"/>
                <a:cs typeface="Arial" panose="020B0604020202020204" pitchFamily="34" charset="0"/>
              </a:rPr>
              <a:t>Antivirus (628) and VPN (612) are the most widely deployed defenses, though AI-based Detection is rising fast (583).</a:t>
            </a:r>
          </a:p>
          <a:p>
            <a:pPr>
              <a:buFont typeface="Wingdings" panose="05000000000000000000" pitchFamily="2" charset="2"/>
              <a:buChar char="Ø"/>
            </a:pPr>
            <a:r>
              <a:rPr lang="en-US" sz="2000" dirty="0">
                <a:latin typeface="Arial" panose="020B0604020202020204" pitchFamily="34" charset="0"/>
                <a:ea typeface="Calibri" pitchFamily="34" charset="-122"/>
                <a:cs typeface="Arial" panose="020B0604020202020204" pitchFamily="34" charset="0"/>
              </a:rPr>
              <a:t>The average incident resolution time is 36.5 hours, suggesting that rapid detection and response remain a major challenge.</a:t>
            </a:r>
            <a:endParaRPr lang="en-US" sz="2000" dirty="0">
              <a:latin typeface="Arial" panose="020B0604020202020204" pitchFamily="34" charset="0"/>
              <a:cs typeface="Arial" panose="020B0604020202020204" pitchFamily="34" charset="0"/>
            </a:endParaRPr>
          </a:p>
          <a:p>
            <a:endParaRPr lang="en-US" sz="2000" dirty="0">
              <a:latin typeface="Calibri" pitchFamily="34" charset="0"/>
              <a:ea typeface="Calibri" pitchFamily="34" charset="-122"/>
              <a:cs typeface="Calibri" pitchFamily="34" charset="-120"/>
            </a:endParaRPr>
          </a:p>
          <a:p>
            <a:endParaRPr lang="en-US" sz="2000" dirty="0"/>
          </a:p>
          <a:p>
            <a:endParaRPr lang="en-US" dirty="0"/>
          </a:p>
          <a:p>
            <a:pPr marL="0" indent="0">
              <a:buNone/>
            </a:pPr>
            <a:endParaRPr lang="en-US" sz="2000" dirty="0"/>
          </a:p>
          <a:p>
            <a:endParaRPr lang="en-US" sz="2000" dirty="0"/>
          </a:p>
          <a:p>
            <a:endParaRPr lang="en-IN" dirty="0"/>
          </a:p>
        </p:txBody>
      </p:sp>
    </p:spTree>
    <p:extLst>
      <p:ext uri="{BB962C8B-B14F-4D97-AF65-F5344CB8AC3E}">
        <p14:creationId xmlns:p14="http://schemas.microsoft.com/office/powerpoint/2010/main" val="34891876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A1A10EF-258A-FE80-F0B5-4D5E163EE5FE}"/>
              </a:ext>
            </a:extLst>
          </p:cNvPr>
          <p:cNvSpPr>
            <a:spLocks noGrp="1"/>
          </p:cNvSpPr>
          <p:nvPr>
            <p:ph type="title"/>
          </p:nvPr>
        </p:nvSpPr>
        <p:spPr>
          <a:xfrm>
            <a:off x="1288897" y="770918"/>
            <a:ext cx="9905998" cy="1478570"/>
          </a:xfrm>
        </p:spPr>
        <p:txBody>
          <a:bodyPr>
            <a:normAutofit/>
          </a:bodyPr>
          <a:lstStyle/>
          <a:p>
            <a:r>
              <a:rPr lang="en-US" sz="2400" b="1" dirty="0">
                <a:solidFill>
                  <a:schemeClr val="bg1"/>
                </a:solidFill>
                <a:latin typeface="Arial" panose="020B0604020202020204" pitchFamily="34" charset="0"/>
                <a:cs typeface="Arial" panose="020B0604020202020204" pitchFamily="34" charset="0"/>
              </a:rPr>
              <a:t>Over view</a:t>
            </a:r>
            <a:endParaRPr lang="en-IN" sz="2400" b="1" dirty="0">
              <a:solidFill>
                <a:schemeClr val="bg1"/>
              </a:solidFill>
              <a:latin typeface="Arial" panose="020B0604020202020204" pitchFamily="34" charset="0"/>
              <a:cs typeface="Arial" panose="020B0604020202020204" pitchFamily="34" charset="0"/>
            </a:endParaRPr>
          </a:p>
        </p:txBody>
      </p:sp>
      <p:sp>
        <p:nvSpPr>
          <p:cNvPr id="4" name="Title 1">
            <a:extLst>
              <a:ext uri="{FF2B5EF4-FFF2-40B4-BE49-F238E27FC236}">
                <a16:creationId xmlns:a16="http://schemas.microsoft.com/office/drawing/2014/main" id="{C73AAB85-B8E9-CCFC-B24B-C28BA556E897}"/>
              </a:ext>
            </a:extLst>
          </p:cNvPr>
          <p:cNvSpPr>
            <a:spLocks noGrp="1"/>
          </p:cNvSpPr>
          <p:nvPr>
            <p:ph idx="1"/>
          </p:nvPr>
        </p:nvSpPr>
        <p:spPr/>
        <p:txBody>
          <a:bodyPr>
            <a:normAutofit fontScale="92500" lnSpcReduction="10000"/>
          </a:bodyPr>
          <a:lstStyle/>
          <a:p>
            <a:pPr>
              <a:buFont typeface="Wingdings" panose="05000000000000000000" pitchFamily="2" charset="2"/>
              <a:buChar char="Ø"/>
            </a:pPr>
            <a:r>
              <a:rPr lang="en-US" dirty="0">
                <a:latin typeface="Arial" panose="020B0604020202020204" pitchFamily="34" charset="0"/>
                <a:cs typeface="Arial" panose="020B0604020202020204" pitchFamily="34" charset="0"/>
              </a:rPr>
              <a:t>Total financial losses across all 3,000 incidents amount to $151.5 Billion, with over 1.51 Billion users affected globally.</a:t>
            </a:r>
          </a:p>
          <a:p>
            <a:pPr>
              <a:buFont typeface="Wingdings" panose="05000000000000000000" pitchFamily="2" charset="2"/>
              <a:buChar char="Ø"/>
            </a:pPr>
            <a:r>
              <a:rPr lang="en-US" dirty="0">
                <a:latin typeface="Arial" panose="020B0604020202020204" pitchFamily="34" charset="0"/>
                <a:cs typeface="Arial" panose="020B0604020202020204" pitchFamily="34" charset="0"/>
              </a:rPr>
              <a:t>Incidents have grown steadily from 2015 (277 cases) through 2022 (318 cases), with a slight dip in 2024 (299), suggesting improved response but persistent threats.</a:t>
            </a:r>
          </a:p>
          <a:p>
            <a:pPr>
              <a:buFont typeface="Wingdings" panose="05000000000000000000" pitchFamily="2" charset="2"/>
              <a:buChar char="Ø"/>
            </a:pPr>
            <a:r>
              <a:rPr lang="en-US" dirty="0">
                <a:latin typeface="Arial" panose="020B0604020202020204" pitchFamily="34" charset="0"/>
                <a:cs typeface="Arial" panose="020B0604020202020204" pitchFamily="34" charset="0"/>
              </a:rPr>
              <a:t>Security Vulnerability Types — including Unpatched Software, Weak Passwords, and Social Engineering — remain the top entry points for attackers across all industries.</a:t>
            </a:r>
          </a:p>
          <a:p>
            <a:endParaRPr lang="en-IN" dirty="0"/>
          </a:p>
        </p:txBody>
      </p:sp>
    </p:spTree>
    <p:extLst>
      <p:ext uri="{BB962C8B-B14F-4D97-AF65-F5344CB8AC3E}">
        <p14:creationId xmlns:p14="http://schemas.microsoft.com/office/powerpoint/2010/main" val="13225974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9D8A4F-25C8-2C96-182D-14419181175B}"/>
              </a:ext>
            </a:extLst>
          </p:cNvPr>
          <p:cNvSpPr>
            <a:spLocks noGrp="1"/>
          </p:cNvSpPr>
          <p:nvPr>
            <p:ph type="title"/>
          </p:nvPr>
        </p:nvSpPr>
        <p:spPr>
          <a:xfrm>
            <a:off x="1141413" y="339213"/>
            <a:ext cx="9905998" cy="1478570"/>
          </a:xfrm>
        </p:spPr>
        <p:txBody>
          <a:bodyPr>
            <a:normAutofit/>
          </a:bodyPr>
          <a:lstStyle/>
          <a:p>
            <a:r>
              <a:rPr lang="en-US" sz="2400" b="1" dirty="0">
                <a:solidFill>
                  <a:schemeClr val="bg1"/>
                </a:solidFill>
                <a:latin typeface="Arial" panose="020B0604020202020204" pitchFamily="34" charset="0"/>
                <a:cs typeface="Arial" panose="020B0604020202020204" pitchFamily="34" charset="0"/>
              </a:rPr>
              <a:t>KEY FINDINGS</a:t>
            </a:r>
            <a:endParaRPr lang="en-IN" sz="2400" b="1" dirty="0">
              <a:solidFill>
                <a:schemeClr val="bg1"/>
              </a:solidFill>
              <a:latin typeface="Arial" panose="020B0604020202020204" pitchFamily="34" charset="0"/>
              <a:cs typeface="Arial" panose="020B0604020202020204" pitchFamily="34" charset="0"/>
            </a:endParaRPr>
          </a:p>
        </p:txBody>
      </p:sp>
      <p:sp>
        <p:nvSpPr>
          <p:cNvPr id="5" name="Title 1">
            <a:extLst>
              <a:ext uri="{FF2B5EF4-FFF2-40B4-BE49-F238E27FC236}">
                <a16:creationId xmlns:a16="http://schemas.microsoft.com/office/drawing/2014/main" id="{0709EE3C-ADDB-2C65-5B24-058151DA210C}"/>
              </a:ext>
            </a:extLst>
          </p:cNvPr>
          <p:cNvSpPr>
            <a:spLocks noGrp="1"/>
          </p:cNvSpPr>
          <p:nvPr>
            <p:ph idx="1"/>
          </p:nvPr>
        </p:nvSpPr>
        <p:spPr>
          <a:xfrm>
            <a:off x="1141412" y="1641987"/>
            <a:ext cx="9905999" cy="4876800"/>
          </a:xfrm>
        </p:spPr>
        <p:txBody>
          <a:bodyPr>
            <a:normAutofit fontScale="25000" lnSpcReduction="20000"/>
          </a:bodyPr>
          <a:lstStyle/>
          <a:p>
            <a:pPr marL="0" indent="0">
              <a:spcAft>
                <a:spcPts val="600"/>
              </a:spcAft>
              <a:buNone/>
            </a:pPr>
            <a:r>
              <a:rPr lang="en-US" sz="8000" dirty="0">
                <a:latin typeface="Arial" panose="020B0604020202020204" pitchFamily="34" charset="0"/>
                <a:ea typeface="Calibri" pitchFamily="34" charset="-122"/>
                <a:cs typeface="Arial" panose="020B0604020202020204" pitchFamily="34" charset="0"/>
              </a:rPr>
              <a:t>1. Nation-state actors are the strongest driver of high-severity cybersecurity incidents globally.</a:t>
            </a:r>
            <a:endParaRPr lang="en-US" sz="8000" dirty="0">
              <a:latin typeface="Arial" panose="020B0604020202020204" pitchFamily="34" charset="0"/>
              <a:cs typeface="Arial" panose="020B0604020202020204" pitchFamily="34" charset="0"/>
            </a:endParaRPr>
          </a:p>
          <a:p>
            <a:pPr marL="0" indent="0">
              <a:spcAft>
                <a:spcPts val="600"/>
              </a:spcAft>
              <a:buNone/>
            </a:pPr>
            <a:r>
              <a:rPr lang="en-US" sz="8000" dirty="0">
                <a:latin typeface="Arial" panose="020B0604020202020204" pitchFamily="34" charset="0"/>
                <a:ea typeface="Calibri" pitchFamily="34" charset="-122"/>
                <a:cs typeface="Arial" panose="020B0604020202020204" pitchFamily="34" charset="0"/>
              </a:rPr>
              <a:t>2. DDoS and Phishing remain the most frequent and financially damaging attack types.</a:t>
            </a:r>
            <a:endParaRPr lang="en-US" sz="8000" dirty="0">
              <a:latin typeface="Arial" panose="020B0604020202020204" pitchFamily="34" charset="0"/>
              <a:cs typeface="Arial" panose="020B0604020202020204" pitchFamily="34" charset="0"/>
            </a:endParaRPr>
          </a:p>
          <a:p>
            <a:pPr marL="0" indent="0">
              <a:spcAft>
                <a:spcPts val="600"/>
              </a:spcAft>
              <a:buNone/>
            </a:pPr>
            <a:r>
              <a:rPr lang="en-US" sz="8000" dirty="0">
                <a:latin typeface="Arial" panose="020B0604020202020204" pitchFamily="34" charset="0"/>
                <a:ea typeface="Calibri" pitchFamily="34" charset="-122"/>
                <a:cs typeface="Arial" panose="020B0604020202020204" pitchFamily="34" charset="0"/>
              </a:rPr>
              <a:t>3. IT, Banking, and Healthcare sectors face the highest number of targeted attacks.</a:t>
            </a:r>
            <a:endParaRPr lang="en-US" sz="8000" dirty="0">
              <a:latin typeface="Arial" panose="020B0604020202020204" pitchFamily="34" charset="0"/>
              <a:cs typeface="Arial" panose="020B0604020202020204" pitchFamily="34" charset="0"/>
            </a:endParaRPr>
          </a:p>
          <a:p>
            <a:pPr marL="0" indent="0">
              <a:spcAft>
                <a:spcPts val="600"/>
              </a:spcAft>
              <a:buNone/>
            </a:pPr>
            <a:r>
              <a:rPr lang="en-US" sz="8000" dirty="0">
                <a:latin typeface="Arial" panose="020B0604020202020204" pitchFamily="34" charset="0"/>
                <a:ea typeface="Calibri" pitchFamily="34" charset="-122"/>
                <a:cs typeface="Arial" panose="020B0604020202020204" pitchFamily="34" charset="0"/>
              </a:rPr>
              <a:t>4. Antivirus and VPN dominate current defenses; AI-based detection is emerging as the next frontier.</a:t>
            </a:r>
            <a:endParaRPr lang="en-US" sz="8000" dirty="0">
              <a:latin typeface="Arial" panose="020B0604020202020204" pitchFamily="34" charset="0"/>
              <a:cs typeface="Arial" panose="020B0604020202020204" pitchFamily="34" charset="0"/>
            </a:endParaRPr>
          </a:p>
          <a:p>
            <a:pPr marL="0" indent="0">
              <a:spcAft>
                <a:spcPts val="600"/>
              </a:spcAft>
              <a:buNone/>
            </a:pPr>
            <a:r>
              <a:rPr lang="en-US" sz="8000" dirty="0">
                <a:latin typeface="Arial" panose="020B0604020202020204" pitchFamily="34" charset="0"/>
                <a:ea typeface="Calibri" pitchFamily="34" charset="-122"/>
                <a:cs typeface="Arial" panose="020B0604020202020204" pitchFamily="34" charset="0"/>
              </a:rPr>
              <a:t>5. Insider threats account for 25% of all attacks, highlighting the need for robust internal controls.</a:t>
            </a:r>
            <a:endParaRPr lang="en-US" sz="8000" dirty="0">
              <a:latin typeface="Arial" panose="020B0604020202020204" pitchFamily="34" charset="0"/>
              <a:cs typeface="Arial" panose="020B0604020202020204" pitchFamily="34" charset="0"/>
            </a:endParaRPr>
          </a:p>
          <a:p>
            <a:pPr marL="0" indent="0">
              <a:spcAft>
                <a:spcPts val="600"/>
              </a:spcAft>
              <a:buNone/>
            </a:pPr>
            <a:r>
              <a:rPr lang="en-US" sz="8000" dirty="0">
                <a:latin typeface="Arial" panose="020B0604020202020204" pitchFamily="34" charset="0"/>
                <a:ea typeface="Calibri" pitchFamily="34" charset="-122"/>
                <a:cs typeface="Arial" panose="020B0604020202020204" pitchFamily="34" charset="0"/>
              </a:rPr>
              <a:t>6. The average incident resolution time of 36.5 hours underscores the need for faster response capabilities</a:t>
            </a:r>
            <a:endParaRPr lang="en-US" sz="8000" dirty="0">
              <a:latin typeface="Arial" panose="020B0604020202020204" pitchFamily="34" charset="0"/>
              <a:cs typeface="Arial" panose="020B0604020202020204" pitchFamily="34" charset="0"/>
            </a:endParaRPr>
          </a:p>
          <a:p>
            <a:endParaRPr lang="en-IN" dirty="0"/>
          </a:p>
        </p:txBody>
      </p:sp>
    </p:spTree>
    <p:extLst>
      <p:ext uri="{BB962C8B-B14F-4D97-AF65-F5344CB8AC3E}">
        <p14:creationId xmlns:p14="http://schemas.microsoft.com/office/powerpoint/2010/main" val="11757129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FB769-B7D7-0160-DDA9-508E07890572}"/>
              </a:ext>
            </a:extLst>
          </p:cNvPr>
          <p:cNvSpPr>
            <a:spLocks noGrp="1"/>
          </p:cNvSpPr>
          <p:nvPr>
            <p:ph type="title"/>
          </p:nvPr>
        </p:nvSpPr>
        <p:spPr/>
        <p:txBody>
          <a:bodyPr>
            <a:normAutofit/>
          </a:bodyPr>
          <a:lstStyle/>
          <a:p>
            <a:r>
              <a:rPr lang="en-US" sz="2800" b="1" dirty="0">
                <a:solidFill>
                  <a:schemeClr val="bg1"/>
                </a:solidFill>
                <a:latin typeface="Arial" panose="020B0604020202020204" pitchFamily="34" charset="0"/>
                <a:cs typeface="Arial" panose="020B0604020202020204" pitchFamily="34" charset="0"/>
              </a:rPr>
              <a:t>CONCLUSION</a:t>
            </a:r>
            <a:endParaRPr lang="en-IN" sz="2800" b="1" dirty="0">
              <a:solidFill>
                <a:schemeClr val="bg1"/>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1C34F894-43E4-ABAD-212C-63916565B923}"/>
              </a:ext>
            </a:extLst>
          </p:cNvPr>
          <p:cNvSpPr>
            <a:spLocks noGrp="1"/>
          </p:cNvSpPr>
          <p:nvPr>
            <p:ph idx="1"/>
          </p:nvPr>
        </p:nvSpPr>
        <p:spPr>
          <a:xfrm>
            <a:off x="1072586" y="1993848"/>
            <a:ext cx="9905999" cy="3541714"/>
          </a:xfrm>
        </p:spPr>
        <p:txBody>
          <a:bodyPr>
            <a:normAutofit lnSpcReduction="10000"/>
          </a:bodyPr>
          <a:lstStyle/>
          <a:p>
            <a:pPr>
              <a:buFont typeface="Wingdings" panose="05000000000000000000" pitchFamily="2" charset="2"/>
              <a:buChar char="Ø"/>
            </a:pPr>
            <a:r>
              <a:rPr lang="en-US" sz="2200" dirty="0">
                <a:latin typeface="Arial" panose="020B0604020202020204" pitchFamily="34" charset="0"/>
                <a:ea typeface="Calibri" pitchFamily="34" charset="-122"/>
                <a:cs typeface="Arial" panose="020B0604020202020204" pitchFamily="34" charset="0"/>
              </a:rPr>
              <a:t>This dashboard effectively showcases the global landscape of cybersecurity threats, emphasizing the roles of nation-state actors, evolving attack types, vulnerable industries, and the growing need for advanced defense mechanisms. It can guide:</a:t>
            </a:r>
            <a:endParaRPr lang="en-US" sz="2200" dirty="0">
              <a:latin typeface="Arial" panose="020B0604020202020204" pitchFamily="34" charset="0"/>
              <a:cs typeface="Arial" panose="020B0604020202020204" pitchFamily="34" charset="0"/>
            </a:endParaRPr>
          </a:p>
          <a:p>
            <a:pPr>
              <a:buFont typeface="Wingdings" panose="05000000000000000000" pitchFamily="2" charset="2"/>
              <a:buChar char="Ø"/>
            </a:pPr>
            <a:r>
              <a:rPr lang="en-US" sz="2200" dirty="0">
                <a:latin typeface="Arial" panose="020B0604020202020204" pitchFamily="34" charset="0"/>
                <a:ea typeface="Calibri" pitchFamily="34" charset="-122"/>
                <a:cs typeface="Arial" panose="020B0604020202020204" pitchFamily="34" charset="0"/>
              </a:rPr>
              <a:t>Organizations to prioritize threat-specific security investments.</a:t>
            </a:r>
            <a:endParaRPr lang="en-US" sz="2200" dirty="0">
              <a:latin typeface="Arial" panose="020B0604020202020204" pitchFamily="34" charset="0"/>
              <a:cs typeface="Arial" panose="020B0604020202020204" pitchFamily="34" charset="0"/>
            </a:endParaRPr>
          </a:p>
          <a:p>
            <a:pPr>
              <a:buFont typeface="Wingdings" panose="05000000000000000000" pitchFamily="2" charset="2"/>
              <a:buChar char="Ø"/>
            </a:pPr>
            <a:r>
              <a:rPr lang="en-US" sz="2200" dirty="0">
                <a:latin typeface="Arial" panose="020B0604020202020204" pitchFamily="34" charset="0"/>
                <a:ea typeface="Calibri" pitchFamily="34" charset="-122"/>
                <a:cs typeface="Arial" panose="020B0604020202020204" pitchFamily="34" charset="0"/>
              </a:rPr>
              <a:t>Policymakers to strengthen national cybersecurity frameworks.</a:t>
            </a:r>
            <a:endParaRPr lang="en-US" sz="2200" dirty="0">
              <a:latin typeface="Arial" panose="020B0604020202020204" pitchFamily="34" charset="0"/>
              <a:cs typeface="Arial" panose="020B0604020202020204" pitchFamily="34" charset="0"/>
            </a:endParaRPr>
          </a:p>
          <a:p>
            <a:pPr>
              <a:buFont typeface="Wingdings" panose="05000000000000000000" pitchFamily="2" charset="2"/>
              <a:buChar char="Ø"/>
            </a:pPr>
            <a:r>
              <a:rPr lang="en-US" sz="2200" dirty="0">
                <a:latin typeface="Arial" panose="020B0604020202020204" pitchFamily="34" charset="0"/>
                <a:ea typeface="Calibri" pitchFamily="34" charset="-122"/>
                <a:cs typeface="Arial" panose="020B0604020202020204" pitchFamily="34" charset="0"/>
              </a:rPr>
              <a:t>IT leaders to recognize the rising impact of AI-driven defenses and insider threat management.</a:t>
            </a:r>
            <a:endParaRPr lang="en-US" sz="2200" dirty="0">
              <a:latin typeface="Arial" panose="020B0604020202020204" pitchFamily="34" charset="0"/>
              <a:cs typeface="Arial" panose="020B0604020202020204" pitchFamily="34" charset="0"/>
            </a:endParaRPr>
          </a:p>
          <a:p>
            <a:endParaRPr lang="en-IN" dirty="0"/>
          </a:p>
        </p:txBody>
      </p:sp>
    </p:spTree>
    <p:extLst>
      <p:ext uri="{BB962C8B-B14F-4D97-AF65-F5344CB8AC3E}">
        <p14:creationId xmlns:p14="http://schemas.microsoft.com/office/powerpoint/2010/main" val="33228254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594168-8323-084E-1A9B-70D94272A70A}"/>
              </a:ext>
            </a:extLst>
          </p:cNvPr>
          <p:cNvSpPr>
            <a:spLocks noGrp="1"/>
          </p:cNvSpPr>
          <p:nvPr>
            <p:ph type="title"/>
          </p:nvPr>
        </p:nvSpPr>
        <p:spPr>
          <a:xfrm>
            <a:off x="1143001" y="1499419"/>
            <a:ext cx="9905998" cy="1030288"/>
          </a:xfrm>
        </p:spPr>
        <p:txBody>
          <a:bodyPr>
            <a:normAutofit/>
          </a:bodyPr>
          <a:lstStyle/>
          <a:p>
            <a:pPr algn="ctr"/>
            <a:r>
              <a:rPr lang="en-US" sz="4800" b="1" dirty="0">
                <a:latin typeface="Arial" panose="020B0604020202020204" pitchFamily="34" charset="0"/>
                <a:cs typeface="Arial" panose="020B0604020202020204" pitchFamily="34" charset="0"/>
              </a:rPr>
              <a:t>THANK YOU</a:t>
            </a:r>
            <a:endParaRPr lang="en-IN" sz="4800" b="1"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94F2A6C8-6779-C7CB-B0AB-B0B90E29710E}"/>
              </a:ext>
            </a:extLst>
          </p:cNvPr>
          <p:cNvSpPr>
            <a:spLocks noGrp="1"/>
          </p:cNvSpPr>
          <p:nvPr>
            <p:ph idx="1"/>
          </p:nvPr>
        </p:nvSpPr>
        <p:spPr>
          <a:xfrm>
            <a:off x="1141412" y="3952567"/>
            <a:ext cx="9905999" cy="1838633"/>
          </a:xfrm>
        </p:spPr>
        <p:txBody>
          <a:bodyPr/>
          <a:lstStyle/>
          <a:p>
            <a:r>
              <a:rPr lang="en-US" sz="2000" dirty="0">
                <a:latin typeface="Arial" panose="020B0604020202020204" pitchFamily="34" charset="0"/>
                <a:cs typeface="Arial" panose="020B0604020202020204" pitchFamily="34" charset="0"/>
              </a:rPr>
              <a:t>Presented By: ASWANTH T K</a:t>
            </a:r>
          </a:p>
          <a:p>
            <a:r>
              <a:rPr lang="en-US" sz="2000" dirty="0">
                <a:latin typeface="Arial" panose="020B0604020202020204" pitchFamily="34" charset="0"/>
                <a:cs typeface="Arial" panose="020B0604020202020204" pitchFamily="34" charset="0"/>
              </a:rPr>
              <a:t>Data Analysis Intern | Power Bi Project</a:t>
            </a:r>
            <a:endParaRPr lang="en-IN" sz="2000" dirty="0">
              <a:latin typeface="Arial" panose="020B0604020202020204" pitchFamily="34" charset="0"/>
              <a:cs typeface="Arial" panose="020B0604020202020204" pitchFamily="34" charset="0"/>
            </a:endParaRPr>
          </a:p>
          <a:p>
            <a:pPr marL="0" indent="0">
              <a:buNone/>
            </a:pPr>
            <a:endParaRPr lang="en-IN" dirty="0"/>
          </a:p>
        </p:txBody>
      </p:sp>
    </p:spTree>
    <p:extLst>
      <p:ext uri="{BB962C8B-B14F-4D97-AF65-F5344CB8AC3E}">
        <p14:creationId xmlns:p14="http://schemas.microsoft.com/office/powerpoint/2010/main" val="343787645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Circuit</Template>
  <TotalTime>285</TotalTime>
  <Words>671</Words>
  <Application>Microsoft Office PowerPoint</Application>
  <PresentationFormat>Widescreen</PresentationFormat>
  <Paragraphs>66</Paragraphs>
  <Slides>9</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Tw Cen MT</vt:lpstr>
      <vt:lpstr>Wingdings</vt:lpstr>
      <vt:lpstr>Circuit</vt:lpstr>
      <vt:lpstr>CYBERSECURITY THREATS ANALYSIS DASHBOARD </vt:lpstr>
      <vt:lpstr>INTRODUCTION</vt:lpstr>
      <vt:lpstr>ANALYSIS &amp; INSIGHTS </vt:lpstr>
      <vt:lpstr>PowerPoint Presentation</vt:lpstr>
      <vt:lpstr>PowerPoint Presentation</vt:lpstr>
      <vt:lpstr>Over view</vt:lpstr>
      <vt:lpstr>KEY FINDINGS</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Aswanth T K</dc:creator>
  <cp:lastModifiedBy>Aswanth T K</cp:lastModifiedBy>
  <cp:revision>1</cp:revision>
  <dcterms:created xsi:type="dcterms:W3CDTF">2026-06-05T15:31:23Z</dcterms:created>
  <dcterms:modified xsi:type="dcterms:W3CDTF">2026-06-18T17:25:05Z</dcterms:modified>
</cp:coreProperties>
</file>